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4572000" cy="411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58A6FF"/>
                </a:solidFill>
              </a:defRPr>
            </a:pPr>
            <a:r>
              <a:t>TRACK 2: PERSONAL AGENTS &amp; DATA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0F6FC"/>
                </a:solidFill>
              </a:defRPr>
            </a:pPr>
            <a:r>
              <a:t>AegisMCP 🛡️</a:t>
            </a:r>
          </a:p>
          <a:p>
            <a:pPr>
              <a:spcBef>
                <a:spcPts val="1000"/>
              </a:spcBef>
              <a:defRPr sz="2400">
                <a:solidFill>
                  <a:srgbClr val="58A6FF"/>
                </a:solidFill>
              </a:defRPr>
            </a:pPr>
            <a:r>
              <a:t>Zero-Leakage Privacy Firewall &amp; Clean-Room Broker for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32918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🔒 Zero PII in Context</a:t>
            </a:r>
          </a:p>
          <a:p>
            <a:br/>
            <a:pPr>
              <a:defRPr sz="1300">
                <a:solidFill>
                  <a:srgbClr val="8B949E"/>
                </a:solidFill>
              </a:defRPr>
            </a:pPr>
            <a:r>
              <a:t>LLMs never see raw credit cards, home addresses, or passports. All physical actions use single-use HMAC surrogate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840480"/>
            <a:ext cx="32918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⚡ Clean-Room Math</a:t>
            </a:r>
          </a:p>
          <a:p>
            <a:br/>
            <a:pPr>
              <a:defRPr sz="1300">
                <a:solidFill>
                  <a:srgbClr val="8B949E"/>
                </a:solidFill>
              </a:defRPr>
            </a:pPr>
            <a:r>
              <a:t>Differential privacy quantization bounds balance leakage. Answers 'can I afford this?' without revealing total net worth.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840480"/>
            <a:ext cx="32918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371F7"/>
                </a:solidFill>
              </a:defRPr>
            </a:pPr>
            <a:r>
              <a:t>💳 Live Stripe Charges</a:t>
            </a:r>
          </a:p>
          <a:p>
            <a:br/>
            <a:pPr>
              <a:defRPr sz="1300">
                <a:solidFill>
                  <a:srgbClr val="8B949E"/>
                </a:solidFill>
              </a:defRPr>
            </a:pPr>
            <a:r>
              <a:t>Isolated daemon ('aegis-broker') holds sealed platform keys and completes live Stripe transactions out-of-band.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System Architecture &amp; Request Pipeline</a:t>
            </a:r>
          </a:p>
          <a:p>
            <a:pPr>
              <a:defRPr sz="1400">
                <a:solidFill>
                  <a:srgbClr val="58A6FF"/>
                </a:solidFill>
              </a:defRPr>
            </a:pPr>
            <a:r>
              <a:t>Real-time cryptographic interception between autonomous models and physical execution</a:t>
            </a:r>
          </a:p>
        </p:txBody>
      </p:sp>
      <p:pic>
        <p:nvPicPr>
          <p:cNvPr id="4" name="Picture 3" descr="aegis-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23760" y="1463040"/>
            <a:ext cx="4206240" cy="8686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1. Agent Tool Call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Cursor Agent or ChatGPT calls /mcp tool (e.g. order_item, book_flight, make_payment).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450592"/>
            <a:ext cx="4206240" cy="8686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0F6FC"/>
                </a:solidFill>
              </a:defRPr>
            </a:pPr>
            <a:r>
              <a:t>2. Policy &amp; Risk Scoring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Aegis evaluates risk level (LOW/MED/HIGH/CRIT) and checks user daily spend caps.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3438144"/>
            <a:ext cx="4206240" cy="8686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3. Clean-Room &amp; Surrogate Vault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Sensitive attributes tokenized (aegis_ship_..., aegis_pm_...). Differential privacy applied.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4425696"/>
            <a:ext cx="4206240" cy="8686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D29922"/>
                </a:solidFill>
              </a:defRPr>
            </a:pPr>
            <a:r>
              <a:t>4. Human Consent Interception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Dashboard (/u/maya) halts execution with diff card and 60-second countdown.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5413248"/>
            <a:ext cx="4206240" cy="8686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371F7"/>
                </a:solidFill>
              </a:defRPr>
            </a:pPr>
            <a:r>
              <a:t>5. Out-of-Band Broker Execution</a:t>
            </a:r>
          </a:p>
          <a:p>
            <a:pPr>
              <a:defRPr sz="1100">
                <a:solidFill>
                  <a:srgbClr val="8B949E"/>
                </a:solidFill>
              </a:defRPr>
            </a:pPr>
            <a:r>
              <a:t>aegis-broker unseals live Stripe/airline API keys out-of-band. 0% raw PII in LLM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Human-in-the-Loop: The 3 Approval Modes</a:t>
            </a:r>
          </a:p>
          <a:p>
            <a:pPr>
              <a:defRPr sz="1400">
                <a:solidFill>
                  <a:srgbClr val="58A6FF"/>
                </a:solidFill>
              </a:defRPr>
            </a:pPr>
            <a:r>
              <a:t>Granular privacy control on every sensitive transaction diff card at /u/{subject}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1. Approve CLEAN ROOM</a:t>
            </a:r>
          </a:p>
          <a:p>
            <a:pPr>
              <a:spcAft>
                <a:spcPts val="1400"/>
              </a:spcAft>
              <a:defRPr sz="1000" b="1">
                <a:solidFill>
                  <a:srgbClr val="8B949E"/>
                </a:solidFill>
              </a:defRPr>
            </a:pPr>
            <a:r>
              <a:t>TOKENIZED SURROGATE (RECOMMENDED)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• Generates single-use opaque tokens (aegis_pm_..., aegis_ship_...)</a:t>
            </a:r>
            <a:br/>
            <a:r>
              <a:t>• Dispatches real payment / shipping out-of-band directly to Stripe &amp; merchants</a:t>
            </a:r>
            <a:br/>
            <a:r>
              <a:t>• 0% raw PII in model context</a:t>
            </a:r>
            <a:br/>
            <a:r>
              <a:t>• Ideal for fully autonomous agent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3756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2. Approve REDACTED</a:t>
            </a:r>
          </a:p>
          <a:p>
            <a:pPr>
              <a:spcAft>
                <a:spcPts val="1400"/>
              </a:spcAft>
              <a:defRPr sz="1000" b="1">
                <a:solidFill>
                  <a:srgbClr val="8B949E"/>
                </a:solidFill>
              </a:defRPr>
            </a:pPr>
            <a:r>
              <a:t>DISPLAY MASKING (WITH ASTERISKS)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• Replaces sensitive digits with asterisks (**** **** **** 4242)</a:t>
            </a:r>
            <a:br/>
            <a:r>
              <a:t>• Retains human-readable city/state for verification</a:t>
            </a:r>
            <a:br/>
            <a:r>
              <a:t>• Real payment processed via backend proxy</a:t>
            </a:r>
            <a:br/>
            <a:r>
              <a:t>• Ideal when agent needs to show human summary confirmation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3756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5149"/>
                </a:solidFill>
              </a:defRPr>
            </a:pPr>
            <a:r>
              <a:t>3. Allow RAW</a:t>
            </a:r>
          </a:p>
          <a:p>
            <a:pPr>
              <a:spcAft>
                <a:spcPts val="1400"/>
              </a:spcAft>
              <a:defRPr sz="1000" b="1">
                <a:solidFill>
                  <a:srgbClr val="8B949E"/>
                </a:solidFill>
              </a:defRPr>
            </a:pPr>
            <a:r>
              <a:t>PLAINTEXT OVERRIDE (DEV/OVERRIDE)</a:t>
            </a:r>
          </a:p>
          <a:p>
            <a:pPr>
              <a:defRPr sz="1300">
                <a:solidFill>
                  <a:srgbClr val="F0F6FC"/>
                </a:solidFill>
              </a:defRPr>
            </a:pPr>
            <a:r>
              <a:t>• Injects exact raw credentials into model context window</a:t>
            </a:r>
            <a:br/>
            <a:r>
              <a:t>• HARD SAFETY LOCK: Regulated identifiers (SSN, Passport) permanently BLOCKED</a:t>
            </a:r>
            <a:br/>
            <a:r>
              <a:t>• Triggers critical ledger audit warning</a:t>
            </a:r>
            <a:br/>
            <a:r>
              <a:t>• Use case: Explicit manual debugging &amp; developer tool overrides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FB950"/>
                </a:solidFill>
              </a:defRPr>
            </a:pPr>
            <a:r>
              <a:t>Button 1: Approve CLEAN ROOM (Tokenized)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Autonomous Mode: Mutual Information I(X; Y) = 0 bits | Real Stripe transaction completed out-of-band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How it Works in Aegis:</a:t>
            </a:r>
          </a:p>
          <a:p>
            <a:br/>
            <a:pPr>
              <a:defRPr sz="1300">
                <a:solidFill>
                  <a:srgbClr val="F0F6FC"/>
                </a:solidFill>
              </a:defRPr>
            </a:pPr>
            <a:r>
              <a:t>1. Agent calls order_item or make_payment</a:t>
            </a:r>
            <a:br/>
            <a:br/>
            <a:r>
              <a:t>2. Diff card appears on /u/maya. User clicks 'Approve CLEAN ROOM'</a:t>
            </a:r>
            <a:br/>
            <a:br/>
            <a:r>
              <a:t>3. Aegis Vault generates cryptographic HMAC surrogate tokens:</a:t>
            </a:r>
            <a:br/>
            <a:r>
              <a:t>   - aegis_ship_d37a892b10ef</a:t>
            </a:r>
            <a:br/>
            <a:r>
              <a:t>   - aegis_pm_7f8a9b2c3d4e</a:t>
            </a:r>
            <a:br/>
            <a:br/>
            <a:r>
              <a:t>4. aegis-broker contacts Stripe API directly over TLS, creating live PaymentIntent (pi_3UTVCd...)</a:t>
            </a:r>
            <a:br/>
            <a:br/>
            <a:r>
              <a:t>5. The model receives confirmed tokenized response. Zero PII enters prompt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554480"/>
            <a:ext cx="5760720" cy="4754880"/>
          </a:xfrm>
          <a:prstGeom prst="roundRect">
            <a:avLst/>
          </a:prstGeom>
          <a:solidFill>
            <a:srgbClr val="0A0C1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FB950"/>
                </a:solidFill>
              </a:defRPr>
            </a:pPr>
            <a:r>
              <a:t>EXACT JSON PAYLOAD RETURNED TO AGENT (LLM CONTEXT):</a:t>
            </a:r>
          </a:p>
          <a:p>
            <a:pPr>
              <a:defRPr sz="1100">
                <a:solidFill>
                  <a:srgbClr val="7EE787"/>
                </a:solidFill>
                <a:latin typeface="Courier New"/>
              </a:defRPr>
            </a:pPr>
            <a:r>
              <a:t>{</a:t>
            </a:r>
            <a:br/>
            <a:r>
              <a:t>  "status": "APPROVED_TOKENIZED",</a:t>
            </a:r>
            <a:br/>
            <a:r>
              <a:t>  "order_id": "aegis_ord_8f19c2e04",</a:t>
            </a:r>
            <a:br/>
            <a:r>
              <a:t>  "shipping": {</a:t>
            </a:r>
            <a:br/>
            <a:r>
              <a:t>    "recipient": "Maya Lin",</a:t>
            </a:r>
            <a:br/>
            <a:r>
              <a:t>    "delivery_token": "aegis_ship_d37a892b10ef",</a:t>
            </a:r>
            <a:br/>
            <a:r>
              <a:t>    "routing": "USPS_ZONE_4"</a:t>
            </a:r>
            <a:br/>
            <a:r>
              <a:t>  },</a:t>
            </a:r>
            <a:br/>
            <a:r>
              <a:t>  "payment": {</a:t>
            </a:r>
            <a:br/>
            <a:r>
              <a:t>    "surrogate_token": "aegis_pm_7f8a9b2c3d4e",</a:t>
            </a:r>
            <a:br/>
            <a:r>
              <a:t>    "live_stripe_charge": "pi_3UTVCdAM6XW2dK7l03VpX1rK",</a:t>
            </a:r>
            <a:br/>
            <a:r>
              <a:t>    "amount_billed_usd": 45.00</a:t>
            </a:r>
            <a:br/>
            <a:r>
              <a:t>  },</a:t>
            </a:r>
            <a:br/>
            <a:r>
              <a:t>  "privacy_guarantee": {</a:t>
            </a:r>
            <a:br/>
            <a:r>
              <a:t>    "raw_pii_exposed_to_model": false,</a:t>
            </a:r>
            <a:br/>
            <a:r>
              <a:t>    "leakage": "0 bits (surrogate isolated)"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D29922"/>
                </a:solidFill>
              </a:defRPr>
            </a:pPr>
            <a:r>
              <a:t>Button 2: Approve REDACTED (Masked)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Display Redaction: Preserves high-level context (last 4 digits, city) without exposing raw secret PAN or street address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How it Works in Aegis:</a:t>
            </a:r>
          </a:p>
          <a:p>
            <a:br/>
            <a:pPr>
              <a:defRPr sz="1300">
                <a:solidFill>
                  <a:srgbClr val="F0F6FC"/>
                </a:solidFill>
              </a:defRPr>
            </a:pPr>
            <a:r>
              <a:t>1. Agent requests customer verification details</a:t>
            </a:r>
            <a:br/>
            <a:br/>
            <a:r>
              <a:t>2. User clicks 'Approve REDACTED 60s'</a:t>
            </a:r>
            <a:br/>
            <a:br/>
            <a:r>
              <a:t>3. Aegis PII Redactor parses sensitive AST nodes:</a:t>
            </a:r>
            <a:br/>
            <a:r>
              <a:t>   - Card number -&gt; **** **** **** 4242</a:t>
            </a:r>
            <a:br/>
            <a:r>
              <a:t>   - Street address -&gt; ********************</a:t>
            </a:r>
            <a:br/>
            <a:r>
              <a:t>   - City/State kept -&gt; San Francisco, CA</a:t>
            </a:r>
            <a:br/>
            <a:br/>
            <a:r>
              <a:t>4. Live Stripe payment is still authorized out-of-band</a:t>
            </a:r>
            <a:br/>
            <a:br/>
            <a:r>
              <a:t>5. The agent can summarize confirmation to the user in chat without possessing the secret PAN or street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554480"/>
            <a:ext cx="5760720" cy="4754880"/>
          </a:xfrm>
          <a:prstGeom prst="roundRect">
            <a:avLst/>
          </a:prstGeom>
          <a:solidFill>
            <a:srgbClr val="0A0C1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D29922"/>
                </a:solidFill>
              </a:defRPr>
            </a:pPr>
            <a:r>
              <a:t>EXACT JSON PAYLOAD RETURNED TO AGENT (LLM CONTEXT):</a:t>
            </a:r>
          </a:p>
          <a:p>
            <a:pPr>
              <a:defRPr sz="1100">
                <a:solidFill>
                  <a:srgbClr val="E3B341"/>
                </a:solidFill>
                <a:latin typeface="Courier New"/>
              </a:defRPr>
            </a:pPr>
            <a:r>
              <a:t>{</a:t>
            </a:r>
            <a:br/>
            <a:r>
              <a:t>  "status": "APPROVED_REDACTED",</a:t>
            </a:r>
            <a:br/>
            <a:r>
              <a:t>  "order_id": "aegis_ord_8f19c2e04",</a:t>
            </a:r>
            <a:br/>
            <a:r>
              <a:t>  "shipping": {</a:t>
            </a:r>
            <a:br/>
            <a:r>
              <a:t>    "recipient": "M*** L**",</a:t>
            </a:r>
            <a:br/>
            <a:r>
              <a:t>    "street": "********************",</a:t>
            </a:r>
            <a:br/>
            <a:r>
              <a:t>    "city": "San Francisco",</a:t>
            </a:r>
            <a:br/>
            <a:r>
              <a:t>    "state": "CA",</a:t>
            </a:r>
            <a:br/>
            <a:r>
              <a:t>    "postal_code": "941**"</a:t>
            </a:r>
            <a:br/>
            <a:r>
              <a:t>  },</a:t>
            </a:r>
            <a:br/>
            <a:r>
              <a:t>  "payment": {</a:t>
            </a:r>
            <a:br/>
            <a:r>
              <a:t>    "card_brand": "Visa",</a:t>
            </a:r>
            <a:br/>
            <a:r>
              <a:t>    "card_last4": "4242",</a:t>
            </a:r>
            <a:br/>
            <a:r>
              <a:t>    "card_number": "**** **** **** 4242",</a:t>
            </a:r>
            <a:br/>
            <a:r>
              <a:t>    "live_stripe_charge": "pi_3UTVCdAM6XW2dK7l03VpX1rK",</a:t>
            </a:r>
            <a:br/>
            <a:r>
              <a:t>    "amount_billed_usd": 45.00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5149"/>
                </a:solidFill>
              </a:defRPr>
            </a:pPr>
            <a:r>
              <a:t>Button 3: Allow RAW (Plaintext Override)</a:t>
            </a:r>
          </a:p>
          <a:p>
            <a:pPr>
              <a:defRPr sz="1400">
                <a:solidFill>
                  <a:srgbClr val="8B949E"/>
                </a:solidFill>
              </a:defRPr>
            </a:pPr>
            <a:r>
              <a:t>Explicit Developer Override Mode | Regulated Identifiers (SSN, Passport) Protected by Hardware 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0F6FC"/>
                </a:solidFill>
              </a:defRPr>
            </a:pPr>
            <a:r>
              <a:t>How it Works &amp; Safety Locks:</a:t>
            </a:r>
          </a:p>
          <a:p>
            <a:br/>
            <a:pPr>
              <a:defRPr sz="1300">
                <a:solidFill>
                  <a:srgbClr val="F0F6FC"/>
                </a:solidFill>
              </a:defRPr>
            </a:pPr>
            <a:r>
              <a:t>1. Explicit override for developers testing models or non-regulated fields</a:t>
            </a:r>
            <a:br/>
            <a:br/>
            <a:r>
              <a:t>2. Releases raw plaintext directly into model context</a:t>
            </a:r>
            <a:br/>
            <a:br/>
            <a:r>
              <a:t>3. HARD-CODED SAFETY BARRIER:</a:t>
            </a:r>
            <a:br/>
            <a:r>
              <a:t>   If the request touches Regulated Identifiers:</a:t>
            </a:r>
            <a:br/>
            <a:r>
              <a:t>   - Social Security Number (SSN)</a:t>
            </a:r>
            <a:br/>
            <a:r>
              <a:t>   - Government Passport Number</a:t>
            </a:r>
            <a:br/>
            <a:r>
              <a:t>   -&gt; 'Allow RAW' button is HARD DISABLED in UI.</a:t>
            </a:r>
            <a:br/>
            <a:br/>
            <a:r>
              <a:t>4. Critical audit receipt logged to SHA-256 ledger.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554480"/>
            <a:ext cx="5760720" cy="4754880"/>
          </a:xfrm>
          <a:prstGeom prst="roundRect">
            <a:avLst/>
          </a:prstGeom>
          <a:solidFill>
            <a:srgbClr val="0A0C10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5149"/>
                </a:solidFill>
              </a:defRPr>
            </a:pPr>
            <a:r>
              <a:t>EXACT JSON PAYLOAD RETURNED TO AGENT (LLM CONTEXT):</a:t>
            </a:r>
          </a:p>
          <a:p>
            <a:pPr>
              <a:defRPr sz="1100">
                <a:solidFill>
                  <a:srgbClr val="FF7B72"/>
                </a:solidFill>
                <a:latin typeface="Courier New"/>
              </a:defRPr>
            </a:pPr>
            <a:r>
              <a:t>{</a:t>
            </a:r>
            <a:br/>
            <a:r>
              <a:t>  "status": "APPROVED_RAW_OVERRIDE",</a:t>
            </a:r>
            <a:br/>
            <a:r>
              <a:t>  "order_id": "aegis_ord_8f19c2e04",</a:t>
            </a:r>
            <a:br/>
            <a:r>
              <a:t>  "shipping": {</a:t>
            </a:r>
            <a:br/>
            <a:r>
              <a:t>    "recipient": "Maya Lin",</a:t>
            </a:r>
            <a:br/>
            <a:r>
              <a:t>    "street_address": "452 Tehama St, Apt 3B",</a:t>
            </a:r>
            <a:br/>
            <a:r>
              <a:t>    "city": "San Francisco",</a:t>
            </a:r>
            <a:br/>
            <a:r>
              <a:t>    "state": "CA",</a:t>
            </a:r>
            <a:br/>
            <a:r>
              <a:t>    "postal_code": "94103"</a:t>
            </a:r>
            <a:br/>
            <a:r>
              <a:t>  },</a:t>
            </a:r>
            <a:br/>
            <a:r>
              <a:t>  "payment": {</a:t>
            </a:r>
            <a:br/>
            <a:r>
              <a:t>    "cardholder": "Maya Lin",</a:t>
            </a:r>
            <a:br/>
            <a:r>
              <a:t>    "card_number": "4242424242424242",</a:t>
            </a:r>
            <a:br/>
            <a:r>
              <a:t>    "cvv": "921",</a:t>
            </a:r>
            <a:br/>
            <a:r>
              <a:t>    "exp_month": 12,</a:t>
            </a:r>
            <a:br/>
            <a:r>
              <a:t>    "exp_year": 2028,</a:t>
            </a:r>
            <a:br/>
            <a:r>
              <a:t>    "amount_billed_usd": 45.00</a:t>
            </a:r>
            <a:br/>
            <a:r>
              <a:t>  },</a:t>
            </a:r>
            <a:br/>
            <a:r>
              <a:t>  "privacy_warning": "CRITICAL: Raw credentials exposed."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Side-by-Side Comparison Matrix</a:t>
            </a:r>
          </a:p>
          <a:p>
            <a:pPr>
              <a:defRPr sz="1400">
                <a:solidFill>
                  <a:srgbClr val="58A6FF"/>
                </a:solidFill>
              </a:defRPr>
            </a:pPr>
            <a:r>
              <a:t>What LLM sees vs what gets executed in the real world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834640"/>
                <a:gridCol w="2834640"/>
                <a:gridCol w="2743200"/>
              </a:tblGrid>
              <a:tr h="6792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8A6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8A6FF"/>
                          </a:solidFill>
                        </a:defRPr>
                      </a:pPr>
                      <a:r>
                        <a:t>1. Approve (Tokenized)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8A6FF"/>
                          </a:solidFill>
                        </a:defRPr>
                      </a:pPr>
                      <a:r>
                        <a:t>2. Approve (Masked)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58A6FF"/>
                          </a:solidFill>
                        </a:defRPr>
                      </a:pPr>
                      <a:r>
                        <a:t>3. Approve (Raw)</a:t>
                      </a:r>
                    </a:p>
                  </a:txBody>
                  <a:tcPr>
                    <a:solidFill>
                      <a:srgbClr val="1A263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Physical Address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B950"/>
                          </a:solidFill>
                        </a:defRPr>
                      </a:pPr>
                      <a:r>
                        <a:t>aegis_ship_d37a892b10ef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29922"/>
                          </a:solidFill>
                        </a:defRPr>
                      </a:pPr>
                      <a:r>
                        <a:t>San Francisco, CA 941**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452 Tehama St, Apt 3B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Payment Card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B950"/>
                          </a:solidFill>
                        </a:defRPr>
                      </a:pPr>
                      <a:r>
                        <a:t>aegis_pm_7f8a9b2c3d4e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29922"/>
                          </a:solidFill>
                        </a:defRPr>
                      </a:pPr>
                      <a:r>
                        <a:t>**** **** **** 4242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4242424242424242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Govt Passport / SSN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B950"/>
                          </a:solidFill>
                        </a:defRPr>
                      </a:pPr>
                      <a:r>
                        <a:t>aegis_pass_shielded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29922"/>
                          </a:solidFill>
                        </a:defRPr>
                      </a:pPr>
                      <a:r>
                        <a:t>USA ••••••710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5149"/>
                          </a:solidFill>
                        </a:defRPr>
                      </a:pPr>
                      <a:r>
                        <a:t>🚫 BLOCKED BY POLICY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Stripe Execution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B950"/>
                          </a:solidFill>
                        </a:defRPr>
                      </a:pPr>
                      <a:r>
                        <a:t>Out-of-band broker proxy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29922"/>
                          </a:solidFill>
                        </a:defRPr>
                      </a:pPr>
                      <a:r>
                        <a:t>Out-of-band broker proxy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Model direct / broker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Mutual Information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B950"/>
                          </a:solidFill>
                        </a:defRPr>
                      </a:pPr>
                      <a:r>
                        <a:t>I(X; Y) = 0 bits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29922"/>
                          </a:solidFill>
                        </a:defRPr>
                      </a:pPr>
                      <a:r>
                        <a:t>Bounded leakage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0F6FC"/>
                          </a:solidFill>
                        </a:defRPr>
                      </a:pPr>
                      <a:r>
                        <a:t>Total leakage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0F6FC"/>
                          </a:solidFill>
                        </a:defRPr>
                      </a:pPr>
                      <a:r>
                        <a:t>Context Safety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FB950"/>
                          </a:solidFill>
                        </a:defRPr>
                      </a:pPr>
                      <a:r>
                        <a:t>✅ 100% Zero Leakage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29922"/>
                          </a:solidFill>
                        </a:defRPr>
                      </a:pPr>
                      <a:r>
                        <a:t>⚠️ Partial / Summary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5149"/>
                          </a:solidFill>
                        </a:defRPr>
                      </a:pPr>
                      <a:r>
                        <a:t>❌ High Risk of Exfiltration</a:t>
                      </a:r>
                    </a:p>
                  </a:txBody>
                  <a:tcPr>
                    <a:solidFill>
                      <a:srgbClr val="1216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0F6FC"/>
                </a:solidFill>
              </a:defRPr>
            </a:pPr>
            <a:r>
              <a:t>Live Agent Demos &amp; Verified Tasks</a:t>
            </a:r>
          </a:p>
          <a:p>
            <a:pPr>
              <a:defRPr sz="1400">
                <a:solidFill>
                  <a:srgbClr val="58A6FF"/>
                </a:solidFill>
              </a:defRPr>
            </a:pPr>
            <a:r>
              <a:t>Tested with ChatGPT and Cursor Agent over persistent Cloudflare tunnel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3756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FB950"/>
                </a:solidFill>
              </a:defRPr>
            </a:pPr>
            <a:r>
              <a:t>Autonomous E-Commerce Order</a:t>
            </a:r>
          </a:p>
          <a:p>
            <a:pPr>
              <a:spcAft>
                <a:spcPts val="1200"/>
              </a:spcAft>
              <a:defRPr sz="1000" b="1">
                <a:solidFill>
                  <a:srgbClr val="8B949E"/>
                </a:solidFill>
              </a:defRPr>
            </a:pPr>
            <a:r>
              <a:t>PROMPT: 'Find a desk fan under $25 and order it via Aegis'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• Agent calls order_item</a:t>
            </a:r>
            <a:br/>
            <a:r>
              <a:t>• Diff card fires on /u/maya</a:t>
            </a:r>
            <a:br/>
            <a:r>
              <a:t>• Maya clicks [Approve CLEAN ROOM]</a:t>
            </a:r>
            <a:br/>
            <a:r>
              <a:t>• Live Stripe charge: pi_3UTVCd...</a:t>
            </a:r>
            <a:br/>
            <a:r>
              <a:t>• Agent gets: aegis_ship_..., aegis_pm_...</a:t>
            </a:r>
            <a:br/>
            <a:r>
              <a:t>• ZERO street address or card numbers leaked!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3756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58A6FF"/>
                </a:solidFill>
              </a:defRPr>
            </a:pPr>
            <a:r>
              <a:t>Differential Privacy Financials</a:t>
            </a:r>
          </a:p>
          <a:p>
            <a:pPr>
              <a:spcAft>
                <a:spcPts val="1200"/>
              </a:spcAft>
              <a:defRPr sz="1000" b="1">
                <a:solidFill>
                  <a:srgbClr val="8B949E"/>
                </a:solidFill>
              </a:defRPr>
            </a:pPr>
            <a:r>
              <a:t>PROMPT: 'Can I afford to purchase a $45 accessory?'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• Agent calls query_financials</a:t>
            </a:r>
            <a:br/>
            <a:r>
              <a:t>• DP engine quantizes against $500 bucket</a:t>
            </a:r>
            <a:br/>
            <a:r>
              <a:t>• Returns: can_afford: true, checked_against: 500.0</a:t>
            </a:r>
            <a:br/>
            <a:r>
              <a:t>• Agent gets exact affordability answer without knowing total bank balance!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37560" cy="475488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371F7"/>
                </a:solidFill>
              </a:defRPr>
            </a:pPr>
            <a:r>
              <a:t>Delegated Shielded Flight Booking</a:t>
            </a:r>
          </a:p>
          <a:p>
            <a:pPr>
              <a:spcAft>
                <a:spcPts val="1200"/>
              </a:spcAft>
              <a:defRPr sz="1000" b="1">
                <a:solidFill>
                  <a:srgbClr val="8B949E"/>
                </a:solidFill>
              </a:defRPr>
            </a:pPr>
            <a:r>
              <a:t>PROMPT: 'Book United flight UA 1542 for Maya Lin'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• Agent calls book_flight</a:t>
            </a:r>
            <a:br/>
            <a:r>
              <a:t>• Aegis contacts airline directly over TLS</a:t>
            </a:r>
            <a:br/>
            <a:r>
              <a:t>• Injects passport &amp; DOB from vault out-of-band</a:t>
            </a:r>
            <a:br/>
            <a:r>
              <a:t>• Agent gets ticket reference: aegis_tkt_...</a:t>
            </a:r>
            <a:br/>
            <a:r>
              <a:t>• Passport never enters LLM context window!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